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2588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C4152"/>
                </a:solidFill>
              </a:defRPr>
            </a:pPr>
            <a:r>
              <a:t>AquaGuard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9C91"/>
                </a:solidFill>
              </a:defRPr>
            </a:pPr>
            <a:r>
              <a:t>Water Quality Monitoring &amp; Complaint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324612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3741"/>
                </a:solidFill>
              </a:defRPr>
            </a:pPr>
            <a:r>
              <a:t>A database-driven platform connecting water-quality readings, citizen complaints, alerts and administrative action.</a:t>
            </a:r>
          </a:p>
        </p:txBody>
      </p:sp>
      <p:sp>
        <p:nvSpPr>
          <p:cNvPr id="5" name="Teardrop 4"/>
          <p:cNvSpPr/>
          <p:nvPr/>
        </p:nvSpPr>
        <p:spPr>
          <a:xfrm>
            <a:off x="9418320" y="1508760"/>
            <a:ext cx="1508760" cy="2057400"/>
          </a:xfrm>
          <a:prstGeom prst="teardrop">
            <a:avLst/>
          </a:prstGeom>
          <a:solidFill>
            <a:srgbClr val="009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525780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09C91"/>
                </a:solidFill>
              </a:defRPr>
            </a:pPr>
            <a:r>
              <a:t>Team AquaDB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4617720"/>
            <a:ext cx="7955279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C4152"/>
                </a:solidFill>
              </a:defRPr>
            </a:pPr>
            <a:r>
              <a:t>Mohammed Faizan — 24BCE2617</a:t>
            </a:r>
          </a:p>
          <a:p>
            <a:pPr>
              <a:spcAft>
                <a:spcPts val="400"/>
              </a:spcAft>
              <a:defRPr sz="1400">
                <a:solidFill>
                  <a:srgbClr val="0C4152"/>
                </a:solidFill>
              </a:defRPr>
            </a:pPr>
            <a:r>
              <a:t>Ashad Rizwan — 24BCE0431</a:t>
            </a:r>
          </a:p>
          <a:p>
            <a:pPr>
              <a:spcAft>
                <a:spcPts val="400"/>
              </a:spcAft>
              <a:defRPr sz="1400">
                <a:solidFill>
                  <a:srgbClr val="0C4152"/>
                </a:solidFill>
              </a:defRPr>
            </a:pPr>
            <a:r>
              <a:t>Abhinandan Nakhate Jain — 24BCE2872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4152"/>
                </a:solidFill>
              </a:defRPr>
            </a:pPr>
            <a:r>
              <a:t>1.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83741"/>
                </a:solidFill>
              </a:defRPr>
            </a:pPr>
            <a:r>
              <a:t>Water-quality problems can affect citizens before authorities have a complete picture of the situation.</a:t>
            </a:r>
          </a:p>
          <a:p>
            <a:pPr>
              <a:spcAft>
                <a:spcPts val="1200"/>
              </a:spcAft>
              <a:defRPr sz="2000" b="0">
                <a:solidFill>
                  <a:srgbClr val="283741"/>
                </a:solidFill>
              </a:defRPr>
            </a:pPr>
            <a:r>
              <a:t>Citizen complaints and technical water readings are often handled as separate information streams.</a:t>
            </a:r>
          </a:p>
          <a:p>
            <a:pPr>
              <a:spcAft>
                <a:spcPts val="1200"/>
              </a:spcAft>
              <a:defRPr sz="2000" b="0">
                <a:solidFill>
                  <a:srgbClr val="283741"/>
                </a:solidFill>
              </a:defRPr>
            </a:pPr>
            <a:r>
              <a:t>Authorities need a central system to track complaints, assign responsibility, monitor status and respond to unsafe readings.</a:t>
            </a:r>
          </a:p>
          <a:p>
            <a:pPr>
              <a:spcAft>
                <a:spcPts val="1200"/>
              </a:spcAft>
              <a:defRPr sz="2000" b="0">
                <a:solidFill>
                  <a:srgbClr val="283741"/>
                </a:solidFill>
              </a:defRPr>
            </a:pPr>
            <a:r>
              <a:t>AquaGuard brings these workflows together in one database-backed platform.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9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98480" y="641908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882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4152"/>
                </a:solidFill>
              </a:defRPr>
            </a:pPr>
            <a:r>
              <a:t>2. Proposed Solution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41732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00200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9C91"/>
                </a:solidFill>
              </a:defRPr>
            </a:pPr>
            <a:r>
              <a:t>💧 Water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3063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3741"/>
                </a:solidFill>
              </a:defRPr>
            </a:pPr>
            <a:r>
              <a:t>Stores pH, turbidity, TDS and temperature readings and classifies risk.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1732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600200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9C91"/>
                </a:solidFill>
              </a:defRPr>
            </a:pPr>
            <a:r>
              <a:t>📢 Citizen Complaints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148840"/>
            <a:ext cx="3063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3741"/>
                </a:solidFill>
              </a:defRPr>
            </a:pPr>
            <a:r>
              <a:t>Citizens submit water-related complaints with category, location, description and priority.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41732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19" y="1600200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9C91"/>
                </a:solidFill>
              </a:defRPr>
            </a:pPr>
            <a:r>
              <a:t>🚨 Alerts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19" y="2148840"/>
            <a:ext cx="3063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3741"/>
                </a:solidFill>
              </a:defRPr>
            </a:pPr>
            <a:r>
              <a:t>Critical water readings create alerts that administrators can review and resolve.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365760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3840480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9C91"/>
                </a:solidFill>
              </a:defRPr>
            </a:pPr>
            <a:r>
              <a:t>👨‍💼 Admin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4389120"/>
            <a:ext cx="3063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3741"/>
                </a:solidFill>
              </a:defRPr>
            </a:pPr>
            <a:r>
              <a:t>Admins view complaints, assign officers and update complaint status.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65760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840480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9C91"/>
                </a:solidFill>
              </a:defRPr>
            </a:pPr>
            <a:r>
              <a:t>📊 Tracking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389120"/>
            <a:ext cx="3063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3741"/>
                </a:solidFill>
              </a:defRPr>
            </a:pPr>
            <a:r>
              <a:t>Dashboards provide counts, recent complaints, water-quality status and alert status.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9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98480" y="641908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882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4152"/>
                </a:solidFill>
              </a:defRPr>
            </a:pPr>
            <a:r>
              <a:t>3. 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834640" y="1417320"/>
            <a:ext cx="6492240" cy="914400"/>
          </a:xfrm>
          <a:prstGeom prst="roundRect">
            <a:avLst/>
          </a:prstGeom>
          <a:solidFill>
            <a:srgbClr val="EFF9FA"/>
          </a:solidFill>
          <a:ln>
            <a:solidFill>
              <a:srgbClr val="009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63240" y="1527048"/>
            <a:ext cx="6035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C4152"/>
                </a:solidFill>
              </a:defRPr>
            </a:pPr>
            <a:r>
              <a:t>Citizen / Admin</a:t>
            </a:r>
            <a:br/>
            <a:r>
              <a:t>Web Browser</a:t>
            </a:r>
          </a:p>
        </p:txBody>
      </p:sp>
      <p:sp>
        <p:nvSpPr>
          <p:cNvPr id="5" name="Down Arrow 4"/>
          <p:cNvSpPr/>
          <p:nvPr/>
        </p:nvSpPr>
        <p:spPr>
          <a:xfrm>
            <a:off x="5669280" y="2350008"/>
            <a:ext cx="822960" cy="411480"/>
          </a:xfrm>
          <a:prstGeom prst="downArrow">
            <a:avLst/>
          </a:prstGeom>
          <a:solidFill>
            <a:srgbClr val="009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834640" y="2743200"/>
            <a:ext cx="6492240" cy="914400"/>
          </a:xfrm>
          <a:prstGeom prst="roundRect">
            <a:avLst/>
          </a:prstGeom>
          <a:solidFill>
            <a:srgbClr val="EFF9FA"/>
          </a:solidFill>
          <a:ln>
            <a:solidFill>
              <a:srgbClr val="009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2852928"/>
            <a:ext cx="6035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C4152"/>
                </a:solidFill>
              </a:defRPr>
            </a:pPr>
            <a:r>
              <a:t>Application Layer</a:t>
            </a:r>
            <a:br/>
            <a:r>
              <a:t>PHP + HTML + CSS</a:t>
            </a:r>
          </a:p>
        </p:txBody>
      </p:sp>
      <p:sp>
        <p:nvSpPr>
          <p:cNvPr id="8" name="Down Arrow 7"/>
          <p:cNvSpPr/>
          <p:nvPr/>
        </p:nvSpPr>
        <p:spPr>
          <a:xfrm>
            <a:off x="5669280" y="3675887"/>
            <a:ext cx="822960" cy="411480"/>
          </a:xfrm>
          <a:prstGeom prst="downArrow">
            <a:avLst/>
          </a:prstGeom>
          <a:solidFill>
            <a:srgbClr val="009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34640" y="4069080"/>
            <a:ext cx="6492240" cy="914400"/>
          </a:xfrm>
          <a:prstGeom prst="roundRect">
            <a:avLst/>
          </a:prstGeom>
          <a:solidFill>
            <a:srgbClr val="E0F5F2"/>
          </a:solidFill>
          <a:ln>
            <a:solidFill>
              <a:srgbClr val="009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40" y="4178808"/>
            <a:ext cx="6035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C4152"/>
                </a:solidFill>
              </a:defRPr>
            </a:pPr>
            <a:r>
              <a:t>Database Layer</a:t>
            </a:r>
            <a:br/>
            <a:r>
              <a:t>MySQL / XAMPP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9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0" y="641908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882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4152"/>
                </a:solidFill>
              </a:defRPr>
            </a:pPr>
            <a:r>
              <a:t>4. Database Design — ER Diagram</a:t>
            </a:r>
          </a:p>
        </p:txBody>
      </p:sp>
      <p:pic>
        <p:nvPicPr>
          <p:cNvPr id="3" name="Picture 2" descr="a_wide_clean_infographic_diagram_on_white_backg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1548872" cy="56509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789920" y="643737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882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4152"/>
                </a:solidFill>
              </a:defRPr>
            </a:pPr>
            <a:r>
              <a:t>5. End-to-End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417320"/>
            <a:ext cx="2423160" cy="1234440"/>
          </a:xfrm>
          <a:prstGeom prst="roundRect">
            <a:avLst/>
          </a:prstGeom>
          <a:solidFill>
            <a:srgbClr val="EFF9FA"/>
          </a:solidFill>
          <a:ln>
            <a:solidFill>
              <a:srgbClr val="009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21488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C4152"/>
                </a:solidFill>
              </a:defRPr>
            </a:pPr>
            <a:r>
              <a:t>1. Citizen logs 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417320"/>
            <a:ext cx="2423160" cy="1234440"/>
          </a:xfrm>
          <a:prstGeom prst="roundRect">
            <a:avLst/>
          </a:prstGeom>
          <a:solidFill>
            <a:srgbClr val="EFF9FA"/>
          </a:solidFill>
          <a:ln>
            <a:solidFill>
              <a:srgbClr val="009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11879" y="1600200"/>
            <a:ext cx="21488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C4152"/>
                </a:solidFill>
              </a:defRPr>
            </a:pPr>
            <a:r>
              <a:t>2. Submits complaint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17320"/>
            <a:ext cx="2423160" cy="1234440"/>
          </a:xfrm>
          <a:prstGeom prst="roundRect">
            <a:avLst/>
          </a:prstGeom>
          <a:solidFill>
            <a:srgbClr val="EFF9FA"/>
          </a:solidFill>
          <a:ln>
            <a:solidFill>
              <a:srgbClr val="009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21488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C4152"/>
                </a:solidFill>
              </a:defRPr>
            </a:pPr>
            <a:r>
              <a:t>3. Complaint stored in MySQL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59" y="1417320"/>
            <a:ext cx="2423160" cy="1234440"/>
          </a:xfrm>
          <a:prstGeom prst="roundRect">
            <a:avLst/>
          </a:prstGeom>
          <a:solidFill>
            <a:srgbClr val="EFF9FA"/>
          </a:solidFill>
          <a:ln>
            <a:solidFill>
              <a:srgbClr val="009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89719" y="1600200"/>
            <a:ext cx="21488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C4152"/>
                </a:solidFill>
              </a:defRPr>
            </a:pPr>
            <a:r>
              <a:t>4. Admin reviews complaint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383280"/>
            <a:ext cx="2423160" cy="1234440"/>
          </a:xfrm>
          <a:prstGeom prst="roundRect">
            <a:avLst/>
          </a:prstGeom>
          <a:solidFill>
            <a:srgbClr val="EFF9FA"/>
          </a:solidFill>
          <a:ln>
            <a:solidFill>
              <a:srgbClr val="009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566160"/>
            <a:ext cx="21488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C4152"/>
                </a:solidFill>
              </a:defRPr>
            </a:pPr>
            <a:r>
              <a:t>5. Officer is assigned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3383280"/>
            <a:ext cx="2423160" cy="1234440"/>
          </a:xfrm>
          <a:prstGeom prst="roundRect">
            <a:avLst/>
          </a:prstGeom>
          <a:solidFill>
            <a:srgbClr val="EFF9FA"/>
          </a:solidFill>
          <a:ln>
            <a:solidFill>
              <a:srgbClr val="009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79" y="3566160"/>
            <a:ext cx="21488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C4152"/>
                </a:solidFill>
              </a:defRPr>
            </a:pPr>
            <a:r>
              <a:t>6. Status → IN PROGRESS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383280"/>
            <a:ext cx="2423160" cy="1234440"/>
          </a:xfrm>
          <a:prstGeom prst="roundRect">
            <a:avLst/>
          </a:prstGeom>
          <a:solidFill>
            <a:srgbClr val="EFF9FA"/>
          </a:solidFill>
          <a:ln>
            <a:solidFill>
              <a:srgbClr val="009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566160"/>
            <a:ext cx="21488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C4152"/>
                </a:solidFill>
              </a:defRPr>
            </a:pPr>
            <a:r>
              <a:t>7. Status → RESOLVED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9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0" y="641908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882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4152"/>
                </a:solidFill>
              </a:defRPr>
            </a:pPr>
            <a:r>
              <a:t>6. Water Quality Monitoring &amp; Alerts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83741"/>
                </a:solidFill>
              </a:defRPr>
            </a:pPr>
            <a:r>
              <a:t>Water readings are stored with location, pH, turbidity, TDS and temperature.</a:t>
            </a:r>
          </a:p>
          <a:p>
            <a:pPr>
              <a:spcAft>
                <a:spcPts val="1200"/>
              </a:spcAft>
              <a:defRPr sz="2000" b="0">
                <a:solidFill>
                  <a:srgbClr val="283741"/>
                </a:solidFill>
              </a:defRPr>
            </a:pPr>
            <a:r>
              <a:t>Each reading has a risk level such as SAFE, WARNING or CRITICAL.</a:t>
            </a:r>
          </a:p>
          <a:p>
            <a:pPr>
              <a:spcAft>
                <a:spcPts val="1200"/>
              </a:spcAft>
              <a:defRPr sz="2000" b="0">
                <a:solidFill>
                  <a:srgbClr val="283741"/>
                </a:solidFill>
              </a:defRPr>
            </a:pPr>
            <a:r>
              <a:t>A critical reading can be represented through the water-alert workflow.</a:t>
            </a:r>
          </a:p>
          <a:p>
            <a:pPr>
              <a:spcAft>
                <a:spcPts val="1200"/>
              </a:spcAft>
              <a:defRPr sz="2000" b="0">
                <a:solidFill>
                  <a:srgbClr val="283741"/>
                </a:solidFill>
              </a:defRPr>
            </a:pPr>
            <a:r>
              <a:t>Administrators can review active alerts and mark them as resolved.</a:t>
            </a:r>
          </a:p>
          <a:p>
            <a:pPr>
              <a:spcAft>
                <a:spcPts val="1200"/>
              </a:spcAft>
              <a:defRPr sz="2000" b="0">
                <a:solidFill>
                  <a:srgbClr val="283741"/>
                </a:solidFill>
              </a:defRPr>
            </a:pPr>
            <a:r>
              <a:t>This connects database data directly to an operational response.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9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98480" y="641908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882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Rectangle 5"/>
          <p:cNvSpPr/>
          <p:nvPr/>
        </p:nvSpPr>
        <p:spPr>
          <a:xfrm>
            <a:off x="960120" y="1234440"/>
            <a:ext cx="10287000" cy="5495544"/>
          </a:xfrm>
          <a:prstGeom prst="rect">
            <a:avLst/>
          </a:prstGeom>
          <a:noFill/>
          <a:ln w="15240">
            <a:solidFill>
              <a:srgbClr val="BE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4152"/>
                </a:solidFill>
              </a:defRPr>
            </a:pPr>
            <a:r>
              <a:t>7. Working Prototype — Homepage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9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234440"/>
            <a:ext cx="10287000" cy="54955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44200" y="642823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882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4152"/>
                </a:solidFill>
              </a:defRPr>
            </a:pPr>
            <a:r>
              <a:t>8. Live Demo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83741"/>
                </a:solidFill>
              </a:defRPr>
            </a:pPr>
            <a:r>
              <a:t>Citizen Login → Submit a water complaint.</a:t>
            </a:r>
          </a:p>
          <a:p>
            <a:pPr>
              <a:spcAft>
                <a:spcPts val="1200"/>
              </a:spcAft>
              <a:defRPr sz="2000" b="0">
                <a:solidFill>
                  <a:srgbClr val="283741"/>
                </a:solidFill>
              </a:defRPr>
            </a:pPr>
            <a:r>
              <a:t>Admin Login → View the new complaint.</a:t>
            </a:r>
          </a:p>
          <a:p>
            <a:pPr>
              <a:spcAft>
                <a:spcPts val="1200"/>
              </a:spcAft>
              <a:defRPr sz="2000" b="0">
                <a:solidFill>
                  <a:srgbClr val="283741"/>
                </a:solidFill>
              </a:defRPr>
            </a:pPr>
            <a:r>
              <a:t>Assign an officer → change status to IN PROGRESS.</a:t>
            </a:r>
          </a:p>
          <a:p>
            <a:pPr>
              <a:spcAft>
                <a:spcPts val="1200"/>
              </a:spcAft>
              <a:defRPr sz="2000" b="0">
                <a:solidFill>
                  <a:srgbClr val="283741"/>
                </a:solidFill>
              </a:defRPr>
            </a:pPr>
            <a:r>
              <a:t>Resolve the complaint → verify the citizen dashboard updates.</a:t>
            </a:r>
          </a:p>
          <a:p>
            <a:pPr>
              <a:spcAft>
                <a:spcPts val="1200"/>
              </a:spcAft>
              <a:defRPr sz="2000" b="0">
                <a:solidFill>
                  <a:srgbClr val="283741"/>
                </a:solidFill>
              </a:defRPr>
            </a:pPr>
            <a:r>
              <a:t>Open Water Quality → show SAFE / WARNING / CRITICAL readings.</a:t>
            </a:r>
          </a:p>
          <a:p>
            <a:pPr>
              <a:spcAft>
                <a:spcPts val="1200"/>
              </a:spcAft>
              <a:defRPr sz="2000" b="0">
                <a:solidFill>
                  <a:srgbClr val="283741"/>
                </a:solidFill>
              </a:defRPr>
            </a:pPr>
            <a:r>
              <a:t>Open Alerts → show the critical alert and resolve it.</a:t>
            </a:r>
          </a:p>
          <a:p>
            <a:pPr>
              <a:spcAft>
                <a:spcPts val="1200"/>
              </a:spcAft>
              <a:defRPr sz="2000" b="0">
                <a:solidFill>
                  <a:srgbClr val="283741"/>
                </a:solidFill>
              </a:defRPr>
            </a:pPr>
            <a:r>
              <a:t>Return to Admin Dashboard → show updated counts.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9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98480" y="641908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882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4152"/>
                </a:solidFill>
              </a:defRPr>
            </a:pPr>
            <a:r>
              <a:t>9. Technology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9C91"/>
                </a:solidFill>
              </a:defRPr>
            </a:pPr>
            <a:r>
              <a:t>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3017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3741"/>
                </a:solidFill>
              </a:defRPr>
            </a:pPr>
            <a:r>
              <a:t>HTML</a:t>
            </a:r>
            <a:br/>
            <a:r>
              <a:t>CSS</a:t>
            </a:r>
            <a:br/>
            <a:r>
              <a:t>Responsive dashboard-style UI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1732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60020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9C91"/>
                </a:solidFill>
              </a:defRPr>
            </a:pPr>
            <a: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148840"/>
            <a:ext cx="3017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3741"/>
                </a:solidFill>
              </a:defRPr>
            </a:pPr>
            <a:r>
              <a:t>PHP</a:t>
            </a:r>
            <a:br/>
            <a:r>
              <a:t>Server-side form handling</a:t>
            </a:r>
            <a:br/>
            <a:r>
              <a:t>MySQL queries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1732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0020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9C91"/>
                </a:solidFill>
              </a:defRPr>
            </a:pPr>
            <a:r>
              <a:t>Database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148840"/>
            <a:ext cx="3017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3741"/>
                </a:solidFill>
              </a:defRPr>
            </a:pPr>
            <a:r>
              <a:t>MySQL</a:t>
            </a:r>
            <a:br/>
            <a:r>
              <a:t>Relational tables</a:t>
            </a:r>
            <a:br/>
            <a:r>
              <a:t>Joins, updates and status tracking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370332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388620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9C91"/>
                </a:solidFill>
              </a:defRPr>
            </a:pPr>
            <a:r>
              <a:t>Environment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4434840"/>
            <a:ext cx="3017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3741"/>
                </a:solidFill>
              </a:defRPr>
            </a:pPr>
            <a:r>
              <a:t>XAMPP</a:t>
            </a:r>
            <a:br/>
            <a:r>
              <a:t>Apache</a:t>
            </a:r>
            <a:br/>
            <a:r>
              <a:t>phpMyAdmin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70332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88620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9C91"/>
                </a:solidFill>
              </a:defRPr>
            </a:pPr>
            <a:r>
              <a:t>Core Focus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434840"/>
            <a:ext cx="3017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3741"/>
                </a:solidFill>
              </a:defRPr>
            </a:pPr>
            <a:r>
              <a:t>Database-driven complaint management</a:t>
            </a:r>
            <a:br/>
            <a:r>
              <a:t>Water-quality monitoring</a:t>
            </a:r>
            <a:br/>
            <a:r>
              <a:t>Alert management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9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98480" y="641908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882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4152"/>
                </a:solidFill>
              </a:defRPr>
            </a:pPr>
            <a:r>
              <a:t>10. Team Roles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38328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30175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3741"/>
                </a:solidFill>
              </a:defRPr>
            </a:pPr>
            <a:r>
              <a:t>Schema design</a:t>
            </a:r>
            <a:br/>
            <a:r>
              <a:t>Tables &amp; relationships</a:t>
            </a:r>
            <a:br/>
            <a:r>
              <a:t>SQL queries</a:t>
            </a:r>
            <a:br/>
            <a:r>
              <a:t>Data validation</a:t>
            </a:r>
            <a:br/>
            <a:r>
              <a:t>Backup &amp; recovery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194560"/>
            <a:ext cx="30175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3741"/>
                </a:solidFill>
              </a:defRPr>
            </a:pPr>
            <a:r>
              <a:t>PHP logic</a:t>
            </a:r>
            <a:br/>
            <a:r>
              <a:t>Authentication</a:t>
            </a:r>
            <a:br/>
            <a:r>
              <a:t>Complaint workflow</a:t>
            </a:r>
            <a:br/>
            <a:r>
              <a:t>Officer assignment</a:t>
            </a:r>
            <a:br/>
            <a:r>
              <a:t>Status updates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194560"/>
            <a:ext cx="30175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3741"/>
                </a:solidFill>
              </a:defRPr>
            </a:pPr>
            <a:r>
              <a:t>UI pages</a:t>
            </a:r>
            <a:br/>
            <a:r>
              <a:t>Dashboards</a:t>
            </a:r>
            <a:br/>
            <a:r>
              <a:t>Water-quality view</a:t>
            </a:r>
            <a:br/>
            <a:r>
              <a:t>Alerts page</a:t>
            </a:r>
            <a:br/>
            <a:r>
              <a:t>Presentation &amp; live demo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9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0" y="641908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882"/>
                </a:solidFill>
              </a:defRPr>
            </a:pPr>
            <a:r>
              <a:t>11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417320"/>
            <a:ext cx="33832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1627632"/>
            <a:ext cx="3017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009C91"/>
                </a:solidFill>
              </a:defRPr>
            </a:pPr>
            <a:r>
              <a:t>Mohammed Faizan</a:t>
            </a:r>
            <a:br/>
            <a:r>
              <a:t>24BCE2617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468880"/>
            <a:ext cx="292608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700"/>
              </a:spcAft>
              <a:defRPr sz="1200">
                <a:solidFill>
                  <a:srgbClr val="0C4152"/>
                </a:solidFill>
              </a:defRPr>
            </a:pPr>
            <a:r>
              <a:t>Database &amp; System Design</a:t>
            </a:r>
          </a:p>
          <a:p>
            <a:pPr algn="ctr">
              <a:spcAft>
                <a:spcPts val="700"/>
              </a:spcAft>
              <a:defRPr sz="1200">
                <a:solidFill>
                  <a:srgbClr val="0C4152"/>
                </a:solidFill>
              </a:defRPr>
            </a:pPr>
            <a:r>
              <a:t>Schema &amp; relationships</a:t>
            </a:r>
          </a:p>
          <a:p>
            <a:pPr algn="ctr">
              <a:spcAft>
                <a:spcPts val="700"/>
              </a:spcAft>
              <a:defRPr sz="1200">
                <a:solidFill>
                  <a:srgbClr val="0C4152"/>
                </a:solidFill>
              </a:defRPr>
            </a:pPr>
            <a:r>
              <a:t>SQL queries</a:t>
            </a:r>
          </a:p>
          <a:p>
            <a:pPr algn="ctr">
              <a:spcAft>
                <a:spcPts val="700"/>
              </a:spcAft>
              <a:defRPr sz="1200">
                <a:solidFill>
                  <a:srgbClr val="0C4152"/>
                </a:solidFill>
              </a:defRPr>
            </a:pPr>
            <a:r>
              <a:t>Data validation</a:t>
            </a:r>
          </a:p>
          <a:p>
            <a:pPr algn="ctr">
              <a:spcAft>
                <a:spcPts val="700"/>
              </a:spcAft>
              <a:defRPr sz="1200">
                <a:solidFill>
                  <a:srgbClr val="0C4152"/>
                </a:solidFill>
              </a:defRPr>
            </a:pPr>
            <a:r>
              <a:t>Backup &amp; recovery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1417320"/>
            <a:ext cx="33832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1627632"/>
            <a:ext cx="3017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009C91"/>
                </a:solidFill>
              </a:defRPr>
            </a:pPr>
            <a:r>
              <a:t>Ashad Rizwan</a:t>
            </a:r>
            <a:br/>
            <a:r>
              <a:t>24BCE0431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2468880"/>
            <a:ext cx="292608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700"/>
              </a:spcAft>
              <a:defRPr sz="1200">
                <a:solidFill>
                  <a:srgbClr val="0C4152"/>
                </a:solidFill>
              </a:defRPr>
            </a:pPr>
            <a:r>
              <a:t>Backend Development</a:t>
            </a:r>
          </a:p>
          <a:p>
            <a:pPr algn="ctr">
              <a:spcAft>
                <a:spcPts val="700"/>
              </a:spcAft>
              <a:defRPr sz="1200">
                <a:solidFill>
                  <a:srgbClr val="0C4152"/>
                </a:solidFill>
              </a:defRPr>
            </a:pPr>
            <a:r>
              <a:t>PHP logic</a:t>
            </a:r>
          </a:p>
          <a:p>
            <a:pPr algn="ctr">
              <a:spcAft>
                <a:spcPts val="700"/>
              </a:spcAft>
              <a:defRPr sz="1200">
                <a:solidFill>
                  <a:srgbClr val="0C4152"/>
                </a:solidFill>
              </a:defRPr>
            </a:pPr>
            <a:r>
              <a:t>Authentication</a:t>
            </a:r>
          </a:p>
          <a:p>
            <a:pPr algn="ctr">
              <a:spcAft>
                <a:spcPts val="700"/>
              </a:spcAft>
              <a:defRPr sz="1200">
                <a:solidFill>
                  <a:srgbClr val="0C4152"/>
                </a:solidFill>
              </a:defRPr>
            </a:pPr>
            <a:r>
              <a:t>Complaint workflow</a:t>
            </a:r>
          </a:p>
          <a:p>
            <a:pPr algn="ctr">
              <a:spcAft>
                <a:spcPts val="700"/>
              </a:spcAft>
              <a:defRPr sz="1200">
                <a:solidFill>
                  <a:srgbClr val="0C4152"/>
                </a:solidFill>
              </a:defRPr>
            </a:pPr>
            <a:r>
              <a:t>Officer assignment &amp;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1417320"/>
            <a:ext cx="33832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1627632"/>
            <a:ext cx="3017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009C91"/>
                </a:solidFill>
              </a:defRPr>
            </a:pPr>
            <a:r>
              <a:t>Abhinandan Nakhate Jain</a:t>
            </a:r>
            <a:br/>
            <a:r>
              <a:t>24BCE2872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468880"/>
            <a:ext cx="292608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700"/>
              </a:spcAft>
              <a:defRPr sz="1200">
                <a:solidFill>
                  <a:srgbClr val="0C4152"/>
                </a:solidFill>
              </a:defRPr>
            </a:pPr>
            <a:r>
              <a:t>Frontend &amp; Demo</a:t>
            </a:r>
          </a:p>
          <a:p>
            <a:pPr algn="ctr">
              <a:spcAft>
                <a:spcPts val="700"/>
              </a:spcAft>
              <a:defRPr sz="1200">
                <a:solidFill>
                  <a:srgbClr val="0C4152"/>
                </a:solidFill>
              </a:defRPr>
            </a:pPr>
            <a:r>
              <a:t>UI pages &amp; dashboards</a:t>
            </a:r>
          </a:p>
          <a:p>
            <a:pPr algn="ctr">
              <a:spcAft>
                <a:spcPts val="700"/>
              </a:spcAft>
              <a:defRPr sz="1200">
                <a:solidFill>
                  <a:srgbClr val="0C4152"/>
                </a:solidFill>
              </a:defRPr>
            </a:pPr>
            <a:r>
              <a:t>Water-quality view</a:t>
            </a:r>
          </a:p>
          <a:p>
            <a:pPr algn="ctr">
              <a:spcAft>
                <a:spcPts val="700"/>
              </a:spcAft>
              <a:defRPr sz="1200">
                <a:solidFill>
                  <a:srgbClr val="0C4152"/>
                </a:solidFill>
              </a:defRPr>
            </a:pPr>
            <a:r>
              <a:t>Alerts page</a:t>
            </a:r>
          </a:p>
          <a:p>
            <a:pPr algn="ctr">
              <a:spcAft>
                <a:spcPts val="700"/>
              </a:spcAft>
              <a:defRPr sz="1200">
                <a:solidFill>
                  <a:srgbClr val="0C4152"/>
                </a:solidFill>
              </a:defRPr>
            </a:pPr>
            <a:r>
              <a:t>Presentation &amp; live demo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16636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C4152"/>
                </a:solidFill>
              </a:defRPr>
            </a:pPr>
            <a:r>
              <a:t>Team AquaDB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4152"/>
                </a:solidFill>
              </a:defRPr>
            </a:pPr>
            <a:r>
              <a:t>11.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83741"/>
                </a:solidFill>
              </a:defRPr>
            </a:pPr>
            <a:r>
              <a:t>IoT sensors for automatic real-time water-quality readings.</a:t>
            </a:r>
          </a:p>
          <a:p>
            <a:pPr>
              <a:spcAft>
                <a:spcPts val="1200"/>
              </a:spcAft>
              <a:defRPr sz="2000" b="0">
                <a:solidFill>
                  <a:srgbClr val="283741"/>
                </a:solidFill>
              </a:defRPr>
            </a:pPr>
            <a:r>
              <a:t>SMS / email / mobile notifications for critical alerts.</a:t>
            </a:r>
          </a:p>
          <a:p>
            <a:pPr>
              <a:spcAft>
                <a:spcPts val="1200"/>
              </a:spcAft>
              <a:defRPr sz="2000" b="0">
                <a:solidFill>
                  <a:srgbClr val="283741"/>
                </a:solidFill>
              </a:defRPr>
            </a:pPr>
            <a:r>
              <a:t>Map-based visualization of affected locations.</a:t>
            </a:r>
          </a:p>
          <a:p>
            <a:pPr>
              <a:spcAft>
                <a:spcPts val="1200"/>
              </a:spcAft>
              <a:defRPr sz="2000" b="0">
                <a:solidFill>
                  <a:srgbClr val="283741"/>
                </a:solidFill>
              </a:defRPr>
            </a:pPr>
            <a:r>
              <a:t>Analytics for recurring complaint hotspots and water-quality trends.</a:t>
            </a:r>
          </a:p>
          <a:p>
            <a:pPr>
              <a:spcAft>
                <a:spcPts val="1200"/>
              </a:spcAft>
              <a:defRPr sz="2000" b="0">
                <a:solidFill>
                  <a:srgbClr val="283741"/>
                </a:solidFill>
              </a:defRPr>
            </a:pPr>
            <a:r>
              <a:t>Role-based access for multiple departments and field officers.</a:t>
            </a:r>
          </a:p>
          <a:p>
            <a:pPr>
              <a:spcAft>
                <a:spcPts val="1200"/>
              </a:spcAft>
              <a:defRPr sz="2000" b="0">
                <a:solidFill>
                  <a:srgbClr val="283741"/>
                </a:solidFill>
              </a:defRPr>
            </a:pPr>
            <a:r>
              <a:t>Cloud deployment for centralized access across regions.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9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98480" y="641908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882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4173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0C4152"/>
                </a:solidFill>
              </a:defRPr>
            </a:pPr>
            <a:r>
              <a:t>AquaGuard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423160"/>
            <a:ext cx="97840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>
                <a:solidFill>
                  <a:srgbClr val="009C91"/>
                </a:solidFill>
              </a:defRPr>
            </a:pPr>
            <a:r>
              <a:t>From water-quality data to citizen action — one connected database-driven workflow.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60520"/>
            <a:ext cx="8503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C4152"/>
                </a:solidFill>
              </a:defRPr>
            </a:pPr>
            <a:r>
              <a:t>Thank You • Questions?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9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1908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882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